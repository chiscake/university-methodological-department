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07858-6656-4772-9BAC-B624DB9F33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0D403B-D78F-4687-BA3B-53087A9E52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DBAB89-DD46-478B-BA1B-5482E9C3A5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092E78-B91C-4FD6-B666-F310C1E2A4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5E7A81F-91C9-44BC-8806-569B42164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454BE692-42A7-4A6D-93C2-87F06983FBB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EFEC2374-E24D-4B60-AF82-32B06D0D97E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02FBD14-DE30-4412-B13F-588639E19ED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ru-RU" sz="24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Курсовой проект</a:t>
            </a:r>
            <a:br>
              <a:rPr sz="3300"/>
            </a:b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АИС «Методический отдел университета»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7200000" y="3440160"/>
            <a:ext cx="234000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ru-RU" sz="24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ИСТ-31</a:t>
            </a:r>
            <a:br>
              <a:rPr sz="2400"/>
            </a:br>
            <a:r>
              <a:rPr lang="ru-RU" sz="24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Олешкевич К.В.</a:t>
            </a:r>
            <a:endParaRPr lang="ru-RU" sz="24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Постановка задачи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0000" y="900000"/>
            <a:ext cx="972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283"/>
              </a:spcBef>
              <a:buNone/>
            </a:pPr>
            <a:r>
              <a:rPr lang="ru-RU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Требуется создать программную систему, предназначенную для работника методического отдела университета. Такая система должна обеспечивать хранение сведений о специальностях, по которым ведет подготовку университет, и предметах, входящих в перечень подготовки по каждой специальности.</a:t>
            </a:r>
            <a:endParaRPr lang="ru-RU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Сведения о специальности – это код и название специальности, присваиваемая квалификация, продолжительность и форма обучения (дневная, вечерняя, заочная).</a:t>
            </a:r>
            <a:endParaRPr lang="ru-RU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Сведения о кафедре включают ее название, телефон (телефоны), факультет, к которому относится кафедра, данные о заведующем кафедрой (фамилия, имя, отчество, степень, звание).</a:t>
            </a:r>
            <a:endParaRPr lang="ru-RU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Сведения о дисциплине – это название дисциплины, в каком семестре (семестрах) и для каких специальностей она читается, сколько часов для каждой специальности отводится на лекции, лабораторные, УСР и практические занятия по этой дисциплине, есть ли курсовое проектирование и виды отчетности в форме зачета или экзамена, какая кафедра преподает дисциплину.</a:t>
            </a:r>
            <a:endParaRPr lang="ru-RU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Сотрудник методического отдела может внести в БД информацию о новой дисциплине, изменить количество часов, отводимых под тот или иной вид учебной программы, изменить название кафедры или факультета, сведения о заведующем кафедрой, номер телефона кафедры.</a:t>
            </a:r>
            <a:endParaRPr lang="ru-RU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F5396A-0859-4AC1-828E-4A670A93311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Обзор модели и требований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680000" y="900000"/>
            <a:ext cx="522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вывести дисциплины, по которым подготовка обеспечивается более, чем одной кафедрой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отобразить список дисциплин, которые читаются более одного семестра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отобразить список кафедр с количеством преподаваемых дисциплин;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построить диаграмму: суммарное количество часов, отведенное на лабораторные по каждой кафедре в выбранном семестре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отсортировать кафедры по количеству преподаваемых дисциплин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сформировать документы: информация о кафедрах (Excel);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по каждой специальности вывести таблицу, строками в которой будут преподаваемые дисциплины, а столбцами количество лекций, лабораторных, практических занятий, УСР, зачет, экзамен, курсовой проект (Excel)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отчет по кафедрам о читаемых дисциплинах (Word)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вывести разницу в часах, отведенных по каждой дисциплине на лабораторные и лекционные занятия в выбранном семестре выбранной кафедры</a:t>
            </a:r>
            <a:endParaRPr lang="ru-RU" sz="13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116640" y="810360"/>
            <a:ext cx="4383360" cy="4139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23BD49-5C3C-4968-8F8A-8F822DF0C2A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Функции приложения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2114280" y="900000"/>
            <a:ext cx="5851800" cy="2384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38" name=""/>
          <p:cNvPicPr/>
          <p:nvPr/>
        </p:nvPicPr>
        <p:blipFill>
          <a:blip r:embed="rId2"/>
          <a:stretch/>
        </p:blipFill>
        <p:spPr>
          <a:xfrm>
            <a:off x="1942560" y="3506760"/>
            <a:ext cx="6194880" cy="1173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C0D248-3BB5-46D3-BFD5-7FE45CD8BFE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Проектирование БД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-180000" y="4680000"/>
            <a:ext cx="10440000" cy="10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1551960" y="788400"/>
            <a:ext cx="6976440" cy="48816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2" name=""/>
          <p:cNvSpPr txBox="1"/>
          <p:nvPr/>
        </p:nvSpPr>
        <p:spPr>
          <a:xfrm>
            <a:off x="6840000" y="913680"/>
            <a:ext cx="3060000" cy="430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Логическая модель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8FCF81-9B7F-4113-9EAD-8736D89AF27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Проектирование БД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-180000" y="4680000"/>
            <a:ext cx="10440000" cy="10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2458080" y="810000"/>
            <a:ext cx="5164200" cy="4833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6" name=""/>
          <p:cNvSpPr txBox="1"/>
          <p:nvPr/>
        </p:nvSpPr>
        <p:spPr>
          <a:xfrm>
            <a:off x="6840000" y="913680"/>
            <a:ext cx="3060000" cy="430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Физическая модель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E2C5E7-46A8-4101-9CC5-A2A1B688F58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Использованные средства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.Net 10, C# 13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PostgreSQL + Supabase (EF Core 10</a:t>
            </a: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, Npgsql, Supabase)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WinUI3 (CommunityToolkit, DevWinUI)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DocumentFormat.OpenXml — для документов, LiveChartsCore — для диаграмм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47B7DC-E0D9-4EEF-B664-E0E7DFD6FF7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Методы защиты информации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Supabase Auth — система аккаунтов, сессий, использование JWT для авторизованных вызовов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Разделение пользователей по авторизации (anon/authenticated) и по ролям (user/admin)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Хранение чувствительных данных в Windows Credential Manager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Использование RLS (с передачей JWT данных через механизм интерцептора запросов)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Журнал аудита для администратора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56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Управление пользователями на стороне сервера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745710-E968-4475-B48C-828D68F7AF2D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Особенности развертывания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360000" y="1080000"/>
            <a:ext cx="1800000" cy="180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3" name=""/>
          <p:cNvPicPr/>
          <p:nvPr/>
        </p:nvPicPr>
        <p:blipFill>
          <a:blip r:embed="rId2"/>
          <a:stretch/>
        </p:blipFill>
        <p:spPr>
          <a:xfrm>
            <a:off x="7920000" y="1093680"/>
            <a:ext cx="1800000" cy="180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4" name=""/>
          <p:cNvPicPr/>
          <p:nvPr/>
        </p:nvPicPr>
        <p:blipFill>
          <a:blip r:embed="rId3"/>
          <a:stretch/>
        </p:blipFill>
        <p:spPr>
          <a:xfrm>
            <a:off x="4227120" y="2520000"/>
            <a:ext cx="1800000" cy="180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55" name=""/>
          <p:cNvSpPr txBox="1"/>
          <p:nvPr/>
        </p:nvSpPr>
        <p:spPr>
          <a:xfrm>
            <a:off x="428040" y="3060000"/>
            <a:ext cx="1664280" cy="346320"/>
          </a:xfrm>
          <a:prstGeom prst="rect">
            <a:avLst/>
          </a:prstGeom>
          <a:noFill/>
          <a:ln w="1800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Пользователь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134600" y="4500000"/>
            <a:ext cx="1985400" cy="346320"/>
          </a:xfrm>
          <a:prstGeom prst="rect">
            <a:avLst/>
          </a:prstGeom>
          <a:noFill/>
          <a:ln w="1800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Supabase (BaaS)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107200" y="3073680"/>
            <a:ext cx="1425960" cy="346320"/>
          </a:xfrm>
          <a:prstGeom prst="rect">
            <a:avLst/>
          </a:prstGeom>
          <a:noFill/>
          <a:ln w="1800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PostgreSQL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2520000" y="1800000"/>
            <a:ext cx="504000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520000" y="2700000"/>
            <a:ext cx="1620000" cy="90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V="1">
            <a:off x="6120000" y="2880000"/>
            <a:ext cx="1440000" cy="72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F524B1-F2D6-4C66-857D-E125B68CA68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Домашняя страница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1854720" y="1080000"/>
            <a:ext cx="6370560" cy="378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63" name=""/>
          <p:cNvSpPr txBox="1"/>
          <p:nvPr/>
        </p:nvSpPr>
        <p:spPr>
          <a:xfrm>
            <a:off x="180000" y="1620000"/>
            <a:ext cx="1620000" cy="7675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Боковая панель навигации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80000" y="900000"/>
            <a:ext cx="1620000" cy="5418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Глобальный поиск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280000" y="2160000"/>
            <a:ext cx="1620000" cy="72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Быстрая навигация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280000" y="1260000"/>
            <a:ext cx="1620000" cy="72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Управление авторизацией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80000" y="2786760"/>
            <a:ext cx="1620000" cy="72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Настройки приложения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6660000" y="2520000"/>
            <a:ext cx="1620000" cy="14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H="1" flipV="1">
            <a:off x="7342920" y="1163520"/>
            <a:ext cx="937080" cy="36072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440000" y="3420000"/>
            <a:ext cx="414720" cy="13575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1440000" y="1223640"/>
            <a:ext cx="2470320" cy="36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440000" y="2160000"/>
            <a:ext cx="41472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62E76F-7BEE-41A1-BE4E-38F6F791C5A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настроек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60000" y="3192480"/>
            <a:ext cx="1374840" cy="7675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Credential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Manager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980000" y="3959640"/>
            <a:ext cx="7200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1980000" y="822240"/>
            <a:ext cx="5040000" cy="41522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" name=""/>
          <p:cNvPicPr/>
          <p:nvPr/>
        </p:nvPicPr>
        <p:blipFill>
          <a:blip r:embed="rId2"/>
          <a:stretch/>
        </p:blipFill>
        <p:spPr>
          <a:xfrm>
            <a:off x="7200000" y="900000"/>
            <a:ext cx="2736000" cy="16236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8" name=""/>
          <p:cNvPicPr/>
          <p:nvPr/>
        </p:nvPicPr>
        <p:blipFill>
          <a:blip r:embed="rId3"/>
          <a:stretch/>
        </p:blipFill>
        <p:spPr>
          <a:xfrm>
            <a:off x="7200000" y="2590920"/>
            <a:ext cx="2736000" cy="1202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9" name=""/>
          <p:cNvSpPr/>
          <p:nvPr/>
        </p:nvSpPr>
        <p:spPr>
          <a:xfrm flipH="1">
            <a:off x="6616800" y="1841760"/>
            <a:ext cx="58320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 flipV="1">
            <a:off x="6660000" y="2160000"/>
            <a:ext cx="540000" cy="90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4"/>
          <a:stretch/>
        </p:blipFill>
        <p:spPr>
          <a:xfrm>
            <a:off x="665640" y="2429280"/>
            <a:ext cx="763200" cy="7632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82" name=""/>
          <p:cNvSpPr/>
          <p:nvPr/>
        </p:nvSpPr>
        <p:spPr>
          <a:xfrm>
            <a:off x="1620000" y="3420000"/>
            <a:ext cx="900000" cy="5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620000" y="3420000"/>
            <a:ext cx="90000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740BD-B0E1-4EC8-9AAD-AC3E5F56E06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Авторизация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2340000" y="1289160"/>
            <a:ext cx="5400000" cy="30308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D6DA3A-78BA-4AD8-A762-E4D19DB664D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Страница-список справочника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3240000" y="1004040"/>
            <a:ext cx="6680160" cy="38559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88" name=""/>
          <p:cNvSpPr/>
          <p:nvPr/>
        </p:nvSpPr>
        <p:spPr>
          <a:xfrm>
            <a:off x="2880000" y="1260000"/>
            <a:ext cx="2340000" cy="5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80000" y="1080000"/>
            <a:ext cx="2880000" cy="36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Поиск по указанной строке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3060000" y="1980000"/>
            <a:ext cx="360000" cy="5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060000" y="2520000"/>
            <a:ext cx="360000" cy="90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80000" y="1980000"/>
            <a:ext cx="2880000" cy="108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Загруженные записи из факультетов и кафедр автоматически дублируются в панели навигации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80000" y="3780000"/>
            <a:ext cx="2880000" cy="3020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Состояние подключения к БД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060000" y="3960000"/>
            <a:ext cx="2153520" cy="45972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2"/>
          <a:stretch/>
        </p:blipFill>
        <p:spPr>
          <a:xfrm>
            <a:off x="6660000" y="4302720"/>
            <a:ext cx="1248120" cy="475560"/>
          </a:xfrm>
          <a:prstGeom prst="rect">
            <a:avLst/>
          </a:prstGeom>
          <a:noFill/>
          <a:ln w="17640">
            <a:solidFill>
              <a:srgbClr val="009bdd"/>
            </a:solidFill>
            <a:round/>
          </a:ln>
        </p:spPr>
      </p:pic>
      <p:sp>
        <p:nvSpPr>
          <p:cNvPr id="96" name=""/>
          <p:cNvSpPr txBox="1"/>
          <p:nvPr/>
        </p:nvSpPr>
        <p:spPr>
          <a:xfrm>
            <a:off x="7920000" y="4302720"/>
            <a:ext cx="1620000" cy="4316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 отсутствии подключения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40597-D48A-413C-BB8E-C4D062F787A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Страницы-списки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040000" cy="30348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99" name=""/>
          <p:cNvPicPr/>
          <p:nvPr/>
        </p:nvPicPr>
        <p:blipFill>
          <a:blip r:embed="rId2"/>
          <a:stretch/>
        </p:blipFill>
        <p:spPr>
          <a:xfrm>
            <a:off x="2520000" y="1362600"/>
            <a:ext cx="5040000" cy="30348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0" name=""/>
          <p:cNvPicPr/>
          <p:nvPr/>
        </p:nvPicPr>
        <p:blipFill>
          <a:blip r:embed="rId3"/>
          <a:stretch/>
        </p:blipFill>
        <p:spPr>
          <a:xfrm>
            <a:off x="4860000" y="1825200"/>
            <a:ext cx="5040000" cy="30348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D0F324-4A38-45ED-A7E0-54F9E775C4E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Страницы-списки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040000" cy="3038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2520000" y="1362600"/>
            <a:ext cx="5040000" cy="30348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4" name=""/>
          <p:cNvPicPr/>
          <p:nvPr/>
        </p:nvPicPr>
        <p:blipFill>
          <a:blip r:embed="rId3"/>
          <a:stretch/>
        </p:blipFill>
        <p:spPr>
          <a:xfrm>
            <a:off x="4860000" y="1821600"/>
            <a:ext cx="5040000" cy="3038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E3DDD-B751-4965-B443-137F1165025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2426040" y="888480"/>
            <a:ext cx="5227920" cy="3965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деталей о записи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160000" y="1080000"/>
            <a:ext cx="1800000" cy="18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80000" y="898200"/>
            <a:ext cx="2160000" cy="3618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Детали о записи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80000" y="1620000"/>
            <a:ext cx="2160000" cy="5418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Информация данной записи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803320" y="1440000"/>
            <a:ext cx="0" cy="14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160000" y="1980000"/>
            <a:ext cx="643320" cy="18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803320" y="3060000"/>
            <a:ext cx="0" cy="144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160000" y="3420000"/>
            <a:ext cx="643320" cy="18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80000" y="3012480"/>
            <a:ext cx="2160000" cy="7675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Связанная информация из других справочников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920000" y="900000"/>
            <a:ext cx="1980000" cy="36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Редактор записи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 flipH="1">
            <a:off x="6840000" y="1080000"/>
            <a:ext cx="1080000" cy="18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920000" y="1440000"/>
            <a:ext cx="1980000" cy="5418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Обработка ошибок ввода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 flipH="1">
            <a:off x="6514920" y="1800000"/>
            <a:ext cx="1405080" cy="9864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920000" y="2520000"/>
            <a:ext cx="2017800" cy="993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Поиск записи из соответствующих полю справочников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 flipH="1">
            <a:off x="7380000" y="2781360"/>
            <a:ext cx="540000" cy="9864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7CC56-AE1C-4531-96F2-4B33BAD687C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деталей о записи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3343320" y="900000"/>
            <a:ext cx="6556680" cy="39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23" name=""/>
          <p:cNvSpPr txBox="1"/>
          <p:nvPr/>
        </p:nvSpPr>
        <p:spPr>
          <a:xfrm>
            <a:off x="180000" y="900000"/>
            <a:ext cx="2880000" cy="993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 связанной информации также выводится список дисциплин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398F04-3998-430D-B7D1-B6DEB64C0DD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деталей о записи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2340000" y="878040"/>
            <a:ext cx="5400000" cy="39819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26" name=""/>
          <p:cNvSpPr txBox="1"/>
          <p:nvPr/>
        </p:nvSpPr>
        <p:spPr>
          <a:xfrm>
            <a:off x="180000" y="2520000"/>
            <a:ext cx="2160000" cy="54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Автоматический расчет академических часов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160000" y="2880000"/>
            <a:ext cx="720000" cy="72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920000" y="900000"/>
            <a:ext cx="2017800" cy="7675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Работа триггера СУБД / вывод общих ошибок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920000" y="2880000"/>
            <a:ext cx="2017800" cy="12189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Автоматическое исправление и сообщение до корректировки со стороны СУБД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 flipH="1">
            <a:off x="7380000" y="1080000"/>
            <a:ext cx="540000" cy="36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 flipH="1">
            <a:off x="6300000" y="3600000"/>
            <a:ext cx="1620000" cy="1800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9CF6B8-23F3-4C12-AAC7-53126F5CEE35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Обзор триггеров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1820160" y="810360"/>
            <a:ext cx="6439680" cy="4158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34" name=""/>
          <p:cNvSpPr/>
          <p:nvPr/>
        </p:nvSpPr>
        <p:spPr>
          <a:xfrm>
            <a:off x="2880000" y="2880000"/>
            <a:ext cx="144000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120000" y="2880000"/>
            <a:ext cx="144000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60000" y="3205800"/>
            <a:ext cx="2880000" cy="1114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Триггер автоматического выставления экзамена, при установке курсового проекта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897720" y="3484440"/>
            <a:ext cx="962280" cy="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3395EA-6B4C-4B63-91FD-00FB7E7FFC9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Обзор триггеров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80000" y="900000"/>
            <a:ext cx="2880000" cy="90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Триггер запрещающий установку и зачёта и экзамена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1"/>
          <a:stretch/>
        </p:blipFill>
        <p:spPr>
          <a:xfrm>
            <a:off x="180000" y="1800000"/>
            <a:ext cx="6840000" cy="30852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41" name=""/>
          <p:cNvPicPr/>
          <p:nvPr/>
        </p:nvPicPr>
        <p:blipFill>
          <a:blip r:embed="rId2"/>
          <a:stretch/>
        </p:blipFill>
        <p:spPr>
          <a:xfrm>
            <a:off x="3780000" y="893160"/>
            <a:ext cx="5220000" cy="3472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643289-9BF2-44DE-A182-67481E242A1C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запросов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43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760000" cy="2484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44" name=""/>
          <p:cNvPicPr/>
          <p:nvPr/>
        </p:nvPicPr>
        <p:blipFill>
          <a:blip r:embed="rId2"/>
          <a:stretch/>
        </p:blipFill>
        <p:spPr>
          <a:xfrm>
            <a:off x="4140000" y="2376000"/>
            <a:ext cx="5760000" cy="2484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4D124C6-09F8-4CBE-A395-813A4D6A4302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запросов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760000" cy="2484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47" name=""/>
          <p:cNvPicPr/>
          <p:nvPr/>
        </p:nvPicPr>
        <p:blipFill>
          <a:blip r:embed="rId2"/>
          <a:stretch/>
        </p:blipFill>
        <p:spPr>
          <a:xfrm>
            <a:off x="4140000" y="2314800"/>
            <a:ext cx="5760000" cy="25452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E1FEE2-85C2-45B4-9834-E8BBADDE1550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диаграмм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49" name=""/>
          <p:cNvPicPr/>
          <p:nvPr/>
        </p:nvPicPr>
        <p:blipFill>
          <a:blip r:embed="rId1"/>
          <a:stretch/>
        </p:blipFill>
        <p:spPr>
          <a:xfrm>
            <a:off x="1912680" y="900000"/>
            <a:ext cx="6254640" cy="39603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AB9B63E-ABA7-45C3-8016-4CAD0F06EC42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отчётов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940000" cy="40111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52" name=""/>
          <p:cNvPicPr/>
          <p:nvPr/>
        </p:nvPicPr>
        <p:blipFill>
          <a:blip r:embed="rId2"/>
          <a:stretch/>
        </p:blipFill>
        <p:spPr>
          <a:xfrm>
            <a:off x="5040000" y="2848320"/>
            <a:ext cx="4860000" cy="20628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2DD51B-2F27-41AD-A04A-EE6259EC5166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отчётов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180000" y="900000"/>
            <a:ext cx="5940000" cy="40111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55" name=""/>
          <p:cNvPicPr/>
          <p:nvPr/>
        </p:nvPicPr>
        <p:blipFill>
          <a:blip r:embed="rId2"/>
          <a:stretch/>
        </p:blipFill>
        <p:spPr>
          <a:xfrm>
            <a:off x="5760000" y="2816640"/>
            <a:ext cx="4140000" cy="20944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BA8DCA-00F9-44B1-B093-57D92BC6F5EE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Страница отчётов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180000" y="898920"/>
            <a:ext cx="5940000" cy="40107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58" name=""/>
          <p:cNvPicPr/>
          <p:nvPr/>
        </p:nvPicPr>
        <p:blipFill>
          <a:blip r:embed="rId2"/>
          <a:stretch/>
        </p:blipFill>
        <p:spPr>
          <a:xfrm>
            <a:off x="6246000" y="900000"/>
            <a:ext cx="3654000" cy="39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FFC76A-A342-4FA3-A5A9-6C644E0F4D18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Панель администратора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60" name=""/>
          <p:cNvPicPr/>
          <p:nvPr/>
        </p:nvPicPr>
        <p:blipFill>
          <a:blip r:embed="rId1"/>
          <a:stretch/>
        </p:blipFill>
        <p:spPr>
          <a:xfrm>
            <a:off x="5940000" y="900000"/>
            <a:ext cx="3584520" cy="39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61" name=""/>
          <p:cNvPicPr/>
          <p:nvPr/>
        </p:nvPicPr>
        <p:blipFill>
          <a:blip r:embed="rId2"/>
          <a:stretch/>
        </p:blipFill>
        <p:spPr>
          <a:xfrm>
            <a:off x="540000" y="2490840"/>
            <a:ext cx="5182200" cy="23691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62" name=""/>
          <p:cNvPicPr/>
          <p:nvPr/>
        </p:nvPicPr>
        <p:blipFill>
          <a:blip r:embed="rId3"/>
          <a:stretch/>
        </p:blipFill>
        <p:spPr>
          <a:xfrm>
            <a:off x="540000" y="900000"/>
            <a:ext cx="5182200" cy="2367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EB273C-BDA5-4984-B9B3-7049636C73E9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Диаграмма классов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64" name=""/>
          <p:cNvPicPr/>
          <p:nvPr/>
        </p:nvPicPr>
        <p:blipFill>
          <a:blip r:embed="rId1"/>
          <a:stretch/>
        </p:blipFill>
        <p:spPr>
          <a:xfrm>
            <a:off x="872280" y="900000"/>
            <a:ext cx="8335800" cy="39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15F2B0-81C7-4738-8747-A4858C95E893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Диаграмма классов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2169720" y="900000"/>
            <a:ext cx="5740920" cy="39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3265BDC-B61A-4D1C-A8BF-3B891467CEA6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Диаграмма классов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168" name=""/>
          <p:cNvPicPr/>
          <p:nvPr/>
        </p:nvPicPr>
        <p:blipFill>
          <a:blip r:embed="rId1"/>
          <a:stretch/>
        </p:blipFill>
        <p:spPr>
          <a:xfrm>
            <a:off x="2997360" y="882000"/>
            <a:ext cx="4085640" cy="3978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4C2D41-7C18-4C9C-95BB-F2F0B399A858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1980000"/>
            <a:ext cx="288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Конец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971EE-D4BC-4D33-85C4-0A200B992CBC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2026-05-18T09:05:31Z</dcterms:created>
  <dc:creator/>
  <dc:description>This work is licensed under a Creative Commons 0 License.
It makes use of the works of kka_libo_design@ashisuto.co.jp.</dc:description>
  <dc:language>ru-RU</dc:language>
  <cp:lastModifiedBy/>
  <dcterms:modified xsi:type="dcterms:W3CDTF">2026-05-18T15:36:15Z</dcterms:modified>
  <cp:revision>7</cp:revision>
  <dc:subject/>
  <dc:title>Blue Curve</dc:title>
</cp:coreProperties>
</file>